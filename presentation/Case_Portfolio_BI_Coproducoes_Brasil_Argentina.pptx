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/>
            </a:pPr>
            <a:r>
              <a:t>Coproduções por ano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5B3887"/>
            </a:solidFill>
            <a:ln>
              <a:solidFill>
                <a:srgbClr val="5B3887"/>
              </a:solidFill>
            </a:ln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</c:v>
                </c:pt>
                <c:pt idx="1">
                  <c:v>4</c:v>
                </c:pt>
                <c:pt idx="2">
                  <c:v>2</c:v>
                </c:pt>
                <c:pt idx="3">
                  <c:v>1</c:v>
                </c:pt>
                <c:pt idx="4">
                  <c:v>4</c:v>
                </c:pt>
                <c:pt idx="5">
                  <c:v>8</c:v>
                </c:pt>
                <c:pt idx="6">
                  <c:v>9</c:v>
                </c:pt>
                <c:pt idx="7">
                  <c:v>9</c:v>
                </c:pt>
                <c:pt idx="8">
                  <c:v>3</c:v>
                </c:pt>
                <c:pt idx="9">
                  <c:v>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/>
            </a:pPr>
            <a:r>
              <a:t>Top 7 — público no Brasil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5B3887"/>
            </a:solidFill>
            <a:ln>
              <a:solidFill>
                <a:srgbClr val="5B3887"/>
              </a:solidFill>
            </a:ln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Divã A 2</c:v>
                </c:pt>
                <c:pt idx="1">
                  <c:v>Infância Clandestina</c:v>
                </c:pt>
                <c:pt idx="2">
                  <c:v>Doidas E Santas</c:v>
                </c:pt>
                <c:pt idx="3">
                  <c:v>Coração De Leão</c:v>
                </c:pt>
                <c:pt idx="4">
                  <c:v>A Sorte Em Suas Mãos</c:v>
                </c:pt>
                <c:pt idx="5">
                  <c:v>Paulina</c:v>
                </c:pt>
                <c:pt idx="6">
                  <c:v>Praça Paris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164589</c:v>
                </c:pt>
                <c:pt idx="1">
                  <c:v>32908</c:v>
                </c:pt>
                <c:pt idx="2">
                  <c:v>29925</c:v>
                </c:pt>
                <c:pt idx="3">
                  <c:v>25936</c:v>
                </c:pt>
                <c:pt idx="4">
                  <c:v>25088</c:v>
                </c:pt>
                <c:pt idx="5">
                  <c:v>15324</c:v>
                </c:pt>
                <c:pt idx="6">
                  <c:v>13348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/>
            </a:pPr>
            <a:r>
              <a:t>Audiência brasileira de filmes argentinos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BE438B"/>
            </a:solidFill>
            <a:ln>
              <a:solidFill>
                <a:srgbClr val="BE438B"/>
              </a:solidFill>
            </a:ln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293066</c:v>
                </c:pt>
                <c:pt idx="1">
                  <c:v>512478</c:v>
                </c:pt>
                <c:pt idx="2">
                  <c:v>494486</c:v>
                </c:pt>
                <c:pt idx="3">
                  <c:v>316412</c:v>
                </c:pt>
                <c:pt idx="4">
                  <c:v>368191</c:v>
                </c:pt>
                <c:pt idx="5">
                  <c:v>292698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/>
            </a:pPr>
            <a:r>
              <a:t>Principais gêneros — pesquisa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5B3887"/>
            </a:solidFill>
            <a:ln>
              <a:solidFill>
                <a:srgbClr val="5B3887"/>
              </a:solidFill>
            </a:ln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Drama</c:v>
                </c:pt>
                <c:pt idx="1">
                  <c:v>Comédia</c:v>
                </c:pt>
                <c:pt idx="2">
                  <c:v>Romance</c:v>
                </c:pt>
                <c:pt idx="3">
                  <c:v>Suspense</c:v>
                </c:pt>
                <c:pt idx="4">
                  <c:v>Crime</c:v>
                </c:pt>
                <c:pt idx="5">
                  <c:v>Drama Psicológico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33.1</c:v>
                </c:pt>
                <c:pt idx="1">
                  <c:v>10.8</c:v>
                </c:pt>
                <c:pt idx="2">
                  <c:v>8.5</c:v>
                </c:pt>
                <c:pt idx="3">
                  <c:v>7.7</c:v>
                </c:pt>
                <c:pt idx="4">
                  <c:v>3.1</c:v>
                </c:pt>
                <c:pt idx="5">
                  <c:v>3.1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/>
            </a:pPr>
            <a:r>
              <a:t>Produtoras brasileiras — recorrência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BE438B"/>
            </a:solidFill>
            <a:ln>
              <a:solidFill>
                <a:srgbClr val="BE438B"/>
              </a:solidFill>
            </a:ln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Taiga Filmes</c:v>
                </c:pt>
                <c:pt idx="1">
                  <c:v>Bossa Nova Films</c:v>
                </c:pt>
                <c:pt idx="2">
                  <c:v>Bananeira Filmes</c:v>
                </c:pt>
                <c:pt idx="3">
                  <c:v>Desvia Produções</c:v>
                </c:pt>
                <c:pt idx="4">
                  <c:v>Punta Colorada / Sancho</c:v>
                </c:pt>
                <c:pt idx="5">
                  <c:v>Sombumbo Filmes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/>
            </a:pPr>
            <a:r>
              <a:t>Produtoras estrangeiras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5B3887"/>
            </a:solidFill>
            <a:ln>
              <a:solidFill>
                <a:srgbClr val="5B3887"/>
              </a:solidFill>
            </a:ln>
          </c:spPr>
          <c:dLbls>
            <c:txPr>
              <a:bodyPr/>
              <a:lstStyle/>
              <a:p>
                <a:pPr>
                  <a:defRPr sz="8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Cepa Audiovisual</c:v>
                </c:pt>
                <c:pt idx="1">
                  <c:v>Magma Cine</c:v>
                </c:pt>
                <c:pt idx="2">
                  <c:v>Andres Wood</c:v>
                </c:pt>
                <c:pt idx="3">
                  <c:v>Aleph Media</c:v>
                </c:pt>
                <c:pt idx="4">
                  <c:v>Campo Cine</c:v>
                </c:pt>
                <c:pt idx="5">
                  <c:v>Movimiento Audiovisual</c:v>
                </c:pt>
                <c:pt idx="6">
                  <c:v>Murillo Cine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BE438B"/>
                </a:solidFill>
                <a:latin typeface="Aptos"/>
              </a:defRPr>
            </a:pPr>
            <a:r>
              <a:t>CASE DE PORTFÓLIO • DATA ANALYSIS /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Coproduções</a:t>
            </a:r>
            <a:br/>
            <a:r>
              <a:t>Cinematográficas Brasil–Argentina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8892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E1E1EB"/>
                </a:solidFill>
                <a:latin typeface="Aptos"/>
              </a:defRPr>
            </a:pPr>
            <a:r>
              <a:t>Transformando uma pesquisa acadêmica em uma experiência de análise e visualização de dados.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977639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3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4087368"/>
            <a:ext cx="211226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BE438B"/>
                </a:solidFill>
                <a:latin typeface="Aptos"/>
              </a:defRPr>
            </a:pPr>
            <a:r>
              <a:t>CORPUS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4370831"/>
            <a:ext cx="21122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4192D"/>
                </a:solidFill>
                <a:latin typeface="Aptos"/>
              </a:defRPr>
            </a:pPr>
            <a:r>
              <a:t>53 obras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3977639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3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5848" y="4087368"/>
            <a:ext cx="211226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B3887"/>
                </a:solidFill>
                <a:latin typeface="Aptos"/>
              </a:defRPr>
            </a:pPr>
            <a:r>
              <a:t>RECORTE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4370831"/>
            <a:ext cx="21122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4192D"/>
                </a:solidFill>
                <a:latin typeface="Aptos"/>
              </a:defRPr>
            </a:pPr>
            <a:r>
              <a:t>2012–2021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3977639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3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16168" y="4087368"/>
            <a:ext cx="211226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BE438B"/>
                </a:solidFill>
                <a:latin typeface="Aptos"/>
              </a:defRPr>
            </a:pPr>
            <a:r>
              <a:t>FONTES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6168" y="4370831"/>
            <a:ext cx="21122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4192D"/>
                </a:solidFill>
                <a:latin typeface="Aptos"/>
              </a:defRPr>
            </a:pPr>
            <a:r>
              <a:t>ANCINE + INCAA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3977639"/>
            <a:ext cx="2331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3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4087368"/>
            <a:ext cx="2112263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B3887"/>
                </a:solidFill>
                <a:latin typeface="Aptos"/>
              </a:defRPr>
            </a:pPr>
            <a:r>
              <a:t>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4370831"/>
            <a:ext cx="2112263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4192D"/>
                </a:solidFill>
                <a:latin typeface="Aptos"/>
              </a:defRPr>
            </a:pPr>
            <a:r>
              <a:t>Excel / BI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80760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DCDDC"/>
                </a:solidFill>
                <a:latin typeface="Aptos"/>
              </a:defRPr>
            </a:pPr>
            <a:r>
              <a:t>Ana Luiza Mendes • Cinema &amp; Audiovisual • UEG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438B"/>
                </a:solidFill>
                <a:latin typeface="Aptos"/>
              </a:defRPr>
            </a:pPr>
            <a:r>
              <a:t>01 •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192D"/>
                </a:solidFill>
                <a:latin typeface="Aptos"/>
              </a:defRPr>
            </a:pPr>
            <a:r>
              <a:t>O problema que eu queria transformar em dado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46474"/>
                </a:solidFill>
                <a:latin typeface="Aptos"/>
              </a:defRPr>
            </a:pPr>
            <a:r>
              <a:t>Uma pesquisa acadêmica extensa pode virar um produto analítico quando o problema, o corpus e as perguntas ficam explícitos.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438B"/>
                </a:solidFill>
                <a:latin typeface="Aptos"/>
              </a:defRPr>
            </a:pPr>
            <a:r>
              <a:t>PERGUNTA CENTRAL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5394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14192D"/>
                </a:solidFill>
                <a:latin typeface="Aptos"/>
              </a:defRPr>
            </a:pPr>
            <a:r>
              <a:t>De que modo se articulam os mercados de cinema brasileiro e argentino no período analisado?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74519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438B"/>
                </a:solidFill>
                <a:latin typeface="Aptos"/>
              </a:defRPr>
            </a:pPr>
            <a:r>
              <a:t>O QUE O CASE INVESTIGA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2267712"/>
            <a:ext cx="4709160" cy="457200"/>
          </a:xfrm>
          <a:prstGeom prst="roundRect">
            <a:avLst/>
          </a:prstGeom>
          <a:solidFill>
            <a:srgbClr val="E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331720"/>
            <a:ext cx="4343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92D"/>
                </a:solidFill>
                <a:latin typeface="Aptos"/>
              </a:defRPr>
            </a:pPr>
            <a:r>
              <a:t>Evolução das coproduções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889504"/>
            <a:ext cx="4709160" cy="457200"/>
          </a:xfrm>
          <a:prstGeom prst="roundRect">
            <a:avLst/>
          </a:prstGeom>
          <a:solidFill>
            <a:srgbClr val="E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953512"/>
            <a:ext cx="4343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92D"/>
                </a:solidFill>
                <a:latin typeface="Aptos"/>
              </a:defRPr>
            </a:pPr>
            <a:r>
              <a:t>Participação majoritária × minoritária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511296"/>
            <a:ext cx="4709160" cy="457200"/>
          </a:xfrm>
          <a:prstGeom prst="roundRect">
            <a:avLst/>
          </a:prstGeom>
          <a:solidFill>
            <a:srgbClr val="E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3575304"/>
            <a:ext cx="4343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92D"/>
                </a:solidFill>
                <a:latin typeface="Aptos"/>
              </a:defRPr>
            </a:pPr>
            <a:r>
              <a:t>Desempenho comercial e audiência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4133087"/>
            <a:ext cx="4709160" cy="457200"/>
          </a:xfrm>
          <a:prstGeom prst="roundRect">
            <a:avLst/>
          </a:prstGeom>
          <a:solidFill>
            <a:srgbClr val="E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197096"/>
            <a:ext cx="4343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92D"/>
                </a:solidFill>
                <a:latin typeface="Aptos"/>
              </a:defRPr>
            </a:pPr>
            <a:r>
              <a:t>Gêneros e redes de produção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4754880"/>
            <a:ext cx="4709160" cy="457200"/>
          </a:xfrm>
          <a:prstGeom prst="roundRect">
            <a:avLst/>
          </a:prstGeom>
          <a:solidFill>
            <a:srgbClr val="E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4818888"/>
            <a:ext cx="4343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92D"/>
                </a:solidFill>
                <a:latin typeface="Aptos"/>
              </a:defRPr>
            </a:pPr>
            <a:r>
              <a:t>Circulação e disponibilidade digital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6474"/>
                </a:solidFill>
                <a:latin typeface="Aptos"/>
              </a:defRPr>
            </a:pPr>
            <a:r>
              <a:t>Fonte: TCC — pesquisa sobre coproduções cinematográficas Brasil–Argentina.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438B"/>
                </a:solidFill>
                <a:latin typeface="Aptos"/>
              </a:defRPr>
            </a:pPr>
            <a:r>
              <a:t>02 • METODOLOGIA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192D"/>
                </a:solidFill>
                <a:latin typeface="Aptos"/>
              </a:defRPr>
            </a:pPr>
            <a:r>
              <a:t>Como os dados foram construídos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46474"/>
                </a:solidFill>
                <a:latin typeface="Aptos"/>
              </a:defRPr>
            </a:pPr>
            <a:r>
              <a:t>O valor do case não está apenas nos gráficos: está na rastreabilidade do caminho até eles.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E438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856231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192D"/>
                </a:solidFill>
                <a:latin typeface="Aptos"/>
              </a:defRPr>
            </a:pPr>
            <a:r>
              <a:t>PESQUISA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221991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6474"/>
                </a:solidFill>
                <a:latin typeface="Aptos"/>
              </a:defRPr>
            </a:pPr>
            <a:r>
              <a:t>Bibliografia e contexto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874519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E43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856231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192D"/>
                </a:solidFill>
                <a:latin typeface="Aptos"/>
              </a:defRPr>
            </a:pPr>
            <a:r>
              <a:t>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221991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6474"/>
                </a:solidFill>
                <a:latin typeface="Aptos"/>
              </a:defRPr>
            </a:pPr>
            <a:r>
              <a:t>ANCINE/OCA + INCAA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874519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E43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1856231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192D"/>
                </a:solidFill>
                <a:latin typeface="Aptos"/>
              </a:defRPr>
            </a:pPr>
            <a:r>
              <a:t>CORPUS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2221991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6474"/>
                </a:solidFill>
                <a:latin typeface="Aptos"/>
              </a:defRPr>
            </a:pPr>
            <a:r>
              <a:t>53 coproduções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94760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E43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77647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192D"/>
                </a:solidFill>
                <a:latin typeface="Aptos"/>
              </a:defRPr>
            </a:pPr>
            <a:r>
              <a:t>COMPLEMENTO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42232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6474"/>
                </a:solidFill>
                <a:latin typeface="Aptos"/>
              </a:defRPr>
            </a:pPr>
            <a:r>
              <a:t>Gêneros, plataformas e entrevistas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794760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E438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77647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192D"/>
                </a:solidFill>
                <a:latin typeface="Aptos"/>
              </a:defRPr>
            </a:pPr>
            <a:r>
              <a:t>ANÁLISE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142232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6474"/>
                </a:solidFill>
                <a:latin typeface="Aptos"/>
              </a:defRPr>
            </a:pPr>
            <a:r>
              <a:t>Indicadores + comparações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794760"/>
            <a:ext cx="502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E438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377647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4192D"/>
                </a:solidFill>
                <a:latin typeface="Aptos"/>
              </a:defRPr>
            </a:pPr>
            <a:r>
              <a:t>VISUAL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4142232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6474"/>
                </a:solidFill>
                <a:latin typeface="Aptos"/>
              </a:defRPr>
            </a:pPr>
            <a:r>
              <a:t>Dashboard + storytelling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8064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5B3887"/>
                </a:solidFill>
                <a:latin typeface="Aptos"/>
              </a:defRPr>
            </a:pPr>
            <a:r>
              <a:t>Entrevistas: Sombumbo Filmes • Sancho y Punta • Taiga Filmes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6474"/>
                </a:solidFill>
                <a:latin typeface="Aptos"/>
              </a:defRPr>
            </a:pPr>
            <a:r>
              <a:t>Fontes e procedimentos documentados no README e na metodologia do projeto.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438B"/>
                </a:solidFill>
                <a:latin typeface="Aptos"/>
              </a:defRPr>
            </a:pPr>
            <a:r>
              <a:t>03 • VISÃO GERAL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192D"/>
                </a:solidFill>
                <a:latin typeface="Aptos"/>
              </a:defRPr>
            </a:pPr>
            <a:r>
              <a:t>O corpus em quatro números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46474"/>
                </a:solidFill>
                <a:latin typeface="Aptos"/>
              </a:defRPr>
            </a:pPr>
            <a:r>
              <a:t>Antes de interpretar, eu estabeleço a escala e o perfil do conjunto analisado.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3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38528"/>
            <a:ext cx="22951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B3887"/>
                </a:solidFill>
                <a:latin typeface="Aptos"/>
              </a:defRPr>
            </a:pPr>
            <a:r>
              <a:t>COPRODUÇÕES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221992"/>
            <a:ext cx="229514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4192D"/>
                </a:solidFill>
                <a:latin typeface="Aptos"/>
              </a:defRPr>
            </a:pPr>
            <a:r>
              <a:t>53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82880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3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008" y="1938528"/>
            <a:ext cx="22951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BE438B"/>
                </a:solidFill>
                <a:latin typeface="Aptos"/>
              </a:defRPr>
            </a:pPr>
            <a:r>
              <a:t>MAJORITÁRIAS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2221992"/>
            <a:ext cx="229514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4192D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82880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3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1938528"/>
            <a:ext cx="22951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B3887"/>
                </a:solidFill>
                <a:latin typeface="Aptos"/>
              </a:defRPr>
            </a:pPr>
            <a:r>
              <a:t>MINORITÁRIAS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2221992"/>
            <a:ext cx="229514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4192D"/>
                </a:solidFill>
                <a:latin typeface="Aptos"/>
              </a:defRPr>
            </a:pPr>
            <a:r>
              <a:t>36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182880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3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87967" y="1938528"/>
            <a:ext cx="229514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BE438B"/>
                </a:solidFill>
                <a:latin typeface="Aptos"/>
              </a:defRPr>
            </a:pPr>
            <a:r>
              <a:t>SEM DISPONIBILIDADE*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7967" y="2221992"/>
            <a:ext cx="229514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4192D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3756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700" b="1">
                <a:solidFill>
                  <a:srgbClr val="14192D"/>
                </a:solidFill>
                <a:latin typeface="Aptos"/>
              </a:defRPr>
            </a:pPr>
            <a:r>
              <a:t>17 + 36 = 53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2336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5B3887"/>
                </a:solidFill>
                <a:latin typeface="Aptos"/>
              </a:defRPr>
            </a:pPr>
            <a:r>
              <a:t>32,1% majoritárias  •  67,9% minoritárias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92040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46474"/>
                </a:solidFill>
                <a:latin typeface="Aptos"/>
              </a:defRPr>
            </a:pPr>
            <a:r>
              <a:t>* Levantamento de plataformas realizado em 2023.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6474"/>
                </a:solidFill>
                <a:latin typeface="Aptos"/>
              </a:defRPr>
            </a:pPr>
            <a:r>
              <a:t>Fonte: TCC, corpus Brasil–Argentina 2012–2021.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438B"/>
                </a:solidFill>
                <a:latin typeface="Aptos"/>
              </a:defRPr>
            </a:pPr>
            <a:r>
              <a:t>04 • PRODUÇÃO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192D"/>
                </a:solidFill>
                <a:latin typeface="Aptos"/>
              </a:defRPr>
            </a:pPr>
            <a:r>
              <a:t>A trajetória não é linear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46474"/>
                </a:solidFill>
                <a:latin typeface="Aptos"/>
              </a:defRPr>
            </a:pPr>
            <a:r>
              <a:t>O volume oscila, mas 2021 concentra o maior número de coproduções do recorte.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828800"/>
          <a:ext cx="7315200" cy="4069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66760" y="19659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438B"/>
                </a:solidFill>
                <a:latin typeface="Aptos"/>
              </a:defRPr>
            </a:pPr>
            <a:r>
              <a:t>LEITURA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2377440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4192D"/>
                </a:solidFill>
                <a:latin typeface="Aptos"/>
              </a:defRPr>
            </a:pPr>
            <a:r>
              <a:t>2015</a:t>
            </a:r>
            <a:br/>
            <a:r>
              <a:t>1 coprodução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3474720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4192D"/>
                </a:solidFill>
                <a:latin typeface="Aptos"/>
              </a:defRPr>
            </a:pPr>
            <a:r>
              <a:t>2021</a:t>
            </a:r>
            <a:br/>
            <a:r>
              <a:t>10 coproduções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461772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5B3887"/>
                </a:solidFill>
                <a:latin typeface="Aptos"/>
              </a:defRPr>
            </a:pPr>
            <a:r>
              <a:t>2016 → 2017</a:t>
            </a:r>
            <a:br/>
            <a:r>
              <a:t>4 →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6474"/>
                </a:solidFill>
                <a:latin typeface="Aptos"/>
              </a:defRPr>
            </a:pPr>
            <a:r>
              <a:t>Fonte: TCC, série anual de coproduções. A leitura é descritiva; não estabelece causalidade.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438B"/>
                </a:solidFill>
                <a:latin typeface="Aptos"/>
              </a:defRPr>
            </a:pPr>
            <a:r>
              <a:t>05 •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192D"/>
                </a:solidFill>
                <a:latin typeface="Aptos"/>
              </a:defRPr>
            </a:pPr>
            <a:r>
              <a:t>Onde o desempenho se concentra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46474"/>
                </a:solidFill>
                <a:latin typeface="Aptos"/>
              </a:defRPr>
            </a:pPr>
            <a:r>
              <a:t>O ranking de bilheteria transforma a base em uma pergunta de mercado: quais títulos alcançaram maior público?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828800"/>
          <a:ext cx="69494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001000" y="1874519"/>
            <a:ext cx="33832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3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0727" y="1984248"/>
            <a:ext cx="316382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BE438B"/>
                </a:solidFill>
                <a:latin typeface="Aptos"/>
              </a:defRPr>
            </a:pPr>
            <a:r>
              <a:t>MAIOR PÚBLICO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7" y="2267712"/>
            <a:ext cx="316382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4192D"/>
                </a:solidFill>
                <a:latin typeface="Aptos"/>
              </a:defRPr>
            </a:pPr>
            <a:r>
              <a:t>164.589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3246120"/>
            <a:ext cx="3154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4192D"/>
                </a:solidFill>
                <a:latin typeface="Aptos"/>
              </a:defRPr>
            </a:pPr>
            <a:r>
              <a:t>Divã A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88620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46474"/>
                </a:solidFill>
                <a:latin typeface="Aptos"/>
              </a:defRPr>
            </a:pPr>
            <a:r>
              <a:t>315 salas no lançamento</a:t>
            </a:r>
            <a:br/>
            <a:r>
              <a:t>R$ 1.982.583,38 de renda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4983480"/>
            <a:ext cx="3154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B3887"/>
                </a:solidFill>
                <a:latin typeface="Aptos"/>
              </a:defRPr>
            </a:pPr>
            <a:r>
              <a:t>A concentração de público em poucos títulos é um ponto de exploração do case.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6474"/>
                </a:solidFill>
                <a:latin typeface="Aptos"/>
              </a:defRPr>
            </a:pPr>
            <a:r>
              <a:t>Fonte: TCC, Quadro 03; dados de mercado organizados no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438B"/>
                </a:solidFill>
                <a:latin typeface="Aptos"/>
              </a:defRPr>
            </a:pPr>
            <a:r>
              <a:t>06 • CIRCULAÇÃO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192D"/>
                </a:solidFill>
                <a:latin typeface="Aptos"/>
              </a:defRPr>
            </a:pPr>
            <a:r>
              <a:t>O mercado também pode ser lido pelo outro lado da fronteira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46474"/>
                </a:solidFill>
                <a:latin typeface="Aptos"/>
              </a:defRPr>
            </a:pPr>
            <a:r>
              <a:t>Além da bilheteria brasileira, o case compara a audiência de filmes argentinos no Brasil.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828800"/>
          <a:ext cx="69494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001000" y="1920240"/>
            <a:ext cx="3337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3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0727" y="2029968"/>
            <a:ext cx="31181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B3887"/>
                </a:solidFill>
                <a:latin typeface="Aptos"/>
              </a:defRPr>
            </a:pPr>
            <a:r>
              <a:t>MAIOR AUDIÊNCIA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7" y="2313432"/>
            <a:ext cx="311810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4192D"/>
                </a:solidFill>
                <a:latin typeface="Aptos"/>
              </a:defRPr>
            </a:pPr>
            <a:r>
              <a:t>512.478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329184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4192D"/>
                </a:solidFill>
                <a:latin typeface="Aptos"/>
              </a:defRPr>
            </a:pPr>
            <a:r>
              <a:t>2013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3977639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46474"/>
                </a:solidFill>
                <a:latin typeface="Aptos"/>
              </a:defRPr>
            </a:pPr>
            <a:r>
              <a:t>A série disponível no TCC vai de 2012 a 2017.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51663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B3887"/>
                </a:solidFill>
                <a:latin typeface="Aptos"/>
              </a:defRPr>
            </a:pPr>
            <a:r>
              <a:t>612.922 espectadores na Argentina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6474"/>
                </a:solidFill>
                <a:latin typeface="Aptos"/>
              </a:defRPr>
            </a:pPr>
            <a:r>
              <a:t>Fonte: TCC, Quadro 05; Quadro 02 para o destaque de audiência na Argentina.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438B"/>
                </a:solidFill>
                <a:latin typeface="Aptos"/>
              </a:defRPr>
            </a:pPr>
            <a:r>
              <a:t>07 • DISTRIBUIÇÃO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192D"/>
                </a:solidFill>
                <a:latin typeface="Aptos"/>
              </a:defRPr>
            </a:pPr>
            <a:r>
              <a:t>O dado mais interessante pode estar na lacuna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46474"/>
                </a:solidFill>
                <a:latin typeface="Aptos"/>
              </a:defRPr>
            </a:pPr>
            <a:r>
              <a:t>O levantamento de 2023 identificou disponibilidade digital para parte do corpus e ausência para outra parte.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108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3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28895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B3887"/>
                </a:solidFill>
                <a:latin typeface="Aptos"/>
              </a:defRPr>
            </a:pPr>
            <a:r>
              <a:t>DISPONIBILIDADE IDENTIFICADA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267712"/>
            <a:ext cx="288950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4192D"/>
                </a:solidFill>
                <a:latin typeface="Aptos"/>
              </a:defRPr>
            </a:pPr>
            <a:r>
              <a:t>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874519"/>
            <a:ext cx="3108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3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78808" y="1984248"/>
            <a:ext cx="28895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BE438B"/>
                </a:solidFill>
                <a:latin typeface="Aptos"/>
              </a:defRPr>
            </a:pPr>
            <a:r>
              <a:t>SEM DISPONIBILIDADE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8808" y="2267712"/>
            <a:ext cx="288950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4192D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874519"/>
            <a:ext cx="3108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3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1984248"/>
            <a:ext cx="2889504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5B3887"/>
                </a:solidFill>
                <a:latin typeface="Aptos"/>
              </a:defRPr>
            </a:pPr>
            <a:r>
              <a:t>TVOD • GOOGLE PLAY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2088" y="2267712"/>
            <a:ext cx="288950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4192D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2900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438B"/>
                </a:solidFill>
                <a:latin typeface="Aptos"/>
              </a:defRPr>
            </a:pPr>
            <a:r>
              <a:t>PRINCIPAIS PLATAFORMAS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840480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92D"/>
                </a:solidFill>
                <a:latin typeface="Aptos"/>
              </a:defRPr>
            </a:pPr>
            <a:r>
              <a:t>Amazon Prime Video • SVOD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84048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5B388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8795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92D"/>
                </a:solidFill>
                <a:latin typeface="Aptos"/>
              </a:defRPr>
            </a:pPr>
            <a:r>
              <a:t>Claro TV • SVOD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18795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5B3887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35424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92D"/>
                </a:solidFill>
                <a:latin typeface="Aptos"/>
              </a:defRPr>
            </a:pPr>
            <a:r>
              <a:t>Looke • SVOD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535424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5B3887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882896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92D"/>
                </a:solidFill>
                <a:latin typeface="Aptos"/>
              </a:defRPr>
            </a:pPr>
            <a:r>
              <a:t>Netflix • SVOD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882896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5B388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230368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92D"/>
                </a:solidFill>
                <a:latin typeface="Aptos"/>
              </a:defRPr>
            </a:pPr>
            <a:r>
              <a:t>Reserva Imovision • SVOD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230368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5B388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577840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92D"/>
                </a:solidFill>
                <a:latin typeface="Aptos"/>
              </a:defRPr>
            </a:pPr>
            <a:r>
              <a:t>GloboPlay • SVOD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57784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5B388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925312"/>
            <a:ext cx="3017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92D"/>
                </a:solidFill>
                <a:latin typeface="Aptos"/>
              </a:defRPr>
            </a:pPr>
            <a:r>
              <a:t>Canal Curta • SVOD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92531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5B388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42900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438B"/>
                </a:solidFill>
                <a:latin typeface="Aptos"/>
              </a:defRPr>
            </a:pPr>
            <a:r>
              <a:t>LEITURA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3840480"/>
            <a:ext cx="47548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4192D"/>
                </a:solidFill>
                <a:latin typeface="Aptos"/>
              </a:defRPr>
            </a:pPr>
            <a:r>
              <a:t>A disponibilidade digital é uma fotografia de setembro de 2023 — não uma fotografia atual do mercado.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534924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6474"/>
                </a:solidFill>
                <a:latin typeface="Aptos"/>
              </a:defRPr>
            </a:pPr>
            <a:r>
              <a:t>Isso é uma limitação do dado e também parte da análise.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6474"/>
                </a:solidFill>
                <a:latin typeface="Aptos"/>
              </a:defRPr>
            </a:pPr>
            <a:r>
              <a:t>Fonte: TCC, levantamento de plataformas. Recorte de disponibilidade: setembro de 2023.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438B"/>
                </a:solidFill>
                <a:latin typeface="Aptos"/>
              </a:defRPr>
            </a:pPr>
            <a:r>
              <a:t>08 • GÊNEROS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192D"/>
                </a:solidFill>
                <a:latin typeface="Aptos"/>
              </a:defRPr>
            </a:pPr>
            <a:r>
              <a:t>Uma categoria ampla esconde uma leitura mais granular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46474"/>
                </a:solidFill>
                <a:latin typeface="Aptos"/>
              </a:defRPr>
            </a:pPr>
            <a:r>
              <a:t>O case compara a classificação institucional com a classificação construída pela pesquisa.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828800"/>
          <a:ext cx="69494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001000" y="1874519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438B"/>
                </a:solidFill>
                <a:latin typeface="Aptos"/>
              </a:defRPr>
            </a:pPr>
            <a:r>
              <a:t>COMPARAÇÃO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2331720"/>
            <a:ext cx="3200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14192D"/>
                </a:solidFill>
                <a:latin typeface="Aptos"/>
              </a:defRPr>
            </a:pPr>
            <a:r>
              <a:t>ANCINE</a:t>
            </a:r>
            <a:br/>
            <a:r>
              <a:t>Ficção — 96,2%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342900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5B3887"/>
                </a:solidFill>
                <a:latin typeface="Aptos"/>
              </a:defRPr>
            </a:pPr>
            <a:r>
              <a:t>PESQUISA</a:t>
            </a:r>
            <a:br/>
            <a:r>
              <a:t>Drama — 33,1%</a:t>
            </a:r>
            <a:br/>
            <a:r>
              <a:t>Comédia — 10,8%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4800600"/>
            <a:ext cx="3200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646474"/>
                </a:solidFill>
                <a:latin typeface="Aptos"/>
              </a:defRPr>
            </a:pPr>
            <a:r>
              <a:t>As obras podem ter múltiplos gêneros.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6474"/>
                </a:solidFill>
                <a:latin typeface="Aptos"/>
              </a:defRPr>
            </a:pPr>
            <a:r>
              <a:t>Fonte: TCC, classificação de gêneros. Os percentuais seguem a organização apresentada no projeto.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438B"/>
                </a:solidFill>
                <a:latin typeface="Aptos"/>
              </a:defRPr>
            </a:pPr>
            <a:r>
              <a:t>09 • REDES DE PRODUÇÃO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192D"/>
                </a:solidFill>
                <a:latin typeface="Aptos"/>
              </a:defRPr>
            </a:pPr>
            <a:r>
              <a:t>Quem aparece com mais frequência no corpus?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46474"/>
                </a:solidFill>
                <a:latin typeface="Aptos"/>
              </a:defRPr>
            </a:pPr>
            <a:r>
              <a:t>A recorrência de produtoras ajuda a visualizar redes e concentrações de produção.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85800" y="1828800"/>
          <a:ext cx="658368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635240" y="1828800"/>
          <a:ext cx="388620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6474"/>
                </a:solidFill>
                <a:latin typeface="Aptos"/>
              </a:defRPr>
            </a:pPr>
            <a:r>
              <a:t>Fonte: TCC, tabelas de produtoras. Recorrência não equivale a participação financeira.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438B"/>
                </a:solidFill>
                <a:latin typeface="Aptos"/>
              </a:defRPr>
            </a:pPr>
            <a:r>
              <a:t>10 •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192D"/>
                </a:solidFill>
                <a:latin typeface="Aptos"/>
              </a:defRPr>
            </a:pPr>
            <a:r>
              <a:t>O que eu levaria para uma conversa de negócio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46474"/>
                </a:solidFill>
                <a:latin typeface="Aptos"/>
              </a:defRPr>
            </a:pPr>
            <a:r>
              <a:t>A apresentação não termina no gráfico: ela termina em perguntas e conclusões defensáveis.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E438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28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92D"/>
                </a:solidFill>
                <a:latin typeface="Aptos"/>
              </a:defRPr>
            </a:pPr>
            <a:r>
              <a:t>PRODUÇÃO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76272"/>
            <a:ext cx="4480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3232D"/>
                </a:solidFill>
                <a:latin typeface="Aptos"/>
              </a:defRPr>
            </a:pPr>
            <a:r>
              <a:t>2021 concentra o maior volume do recorte.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8288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E43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828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92D"/>
                </a:solidFill>
                <a:latin typeface="Aptos"/>
              </a:defRPr>
            </a:pPr>
            <a:r>
              <a:t>ESTRUTURA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176272"/>
            <a:ext cx="4480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3232D"/>
                </a:solidFill>
                <a:latin typeface="Aptos"/>
              </a:defRPr>
            </a:pPr>
            <a:r>
              <a:t>36 das 53 obras são minoritárias.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5468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E43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546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92D"/>
                </a:solidFill>
                <a:latin typeface="Aptos"/>
              </a:defRPr>
            </a:pPr>
            <a:r>
              <a:t>MERCADO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502152"/>
            <a:ext cx="4480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3232D"/>
                </a:solidFill>
                <a:latin typeface="Aptos"/>
              </a:defRPr>
            </a:pPr>
            <a:r>
              <a:t>Divã A 2 lidera o público no Brasil.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15468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E43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1546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92D"/>
                </a:solidFill>
                <a:latin typeface="Aptos"/>
              </a:defRPr>
            </a:pPr>
            <a:r>
              <a:t>CIRCULAÇÃO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502152"/>
            <a:ext cx="4480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3232D"/>
                </a:solidFill>
                <a:latin typeface="Aptos"/>
              </a:defRPr>
            </a:pPr>
            <a:r>
              <a:t>Há diferença de desempenho entre os dois mercados.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8056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E438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4805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92D"/>
                </a:solidFill>
                <a:latin typeface="Aptos"/>
              </a:defRPr>
            </a:pPr>
            <a:r>
              <a:t>DISTRIBUIÇÃO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828032"/>
            <a:ext cx="4480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3232D"/>
                </a:solidFill>
                <a:latin typeface="Aptos"/>
              </a:defRPr>
            </a:pPr>
            <a:r>
              <a:t>20 obras não tinham disponibilidade identificada em 2023.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48056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E438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4805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92D"/>
                </a:solidFill>
                <a:latin typeface="Aptos"/>
              </a:defRPr>
            </a:pPr>
            <a:r>
              <a:t>GÊNERO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828032"/>
            <a:ext cx="4480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3232D"/>
                </a:solidFill>
                <a:latin typeface="Aptos"/>
              </a:defRPr>
            </a:pPr>
            <a:r>
              <a:t>A classificação granular revela diversidade dentro da ficção.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6474"/>
                </a:solidFill>
                <a:latin typeface="Aptos"/>
              </a:defRPr>
            </a:pPr>
            <a:r>
              <a:t>Insights são interpretações descritivas do corpus; não constituem prova de causalidade.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438B"/>
                </a:solidFill>
                <a:latin typeface="Aptos"/>
              </a:defRPr>
            </a:pPr>
            <a:r>
              <a:t>11 • QUALIDADE DOS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192D"/>
                </a:solidFill>
                <a:latin typeface="Aptos"/>
              </a:defRPr>
            </a:pPr>
            <a:r>
              <a:t>O que eu sei — e o que eu não afirmaria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46474"/>
                </a:solidFill>
                <a:latin typeface="Aptos"/>
              </a:defRPr>
            </a:pPr>
            <a:r>
              <a:t>Documentar limitações é parte do trabalho de análise.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4983480" cy="960120"/>
          </a:xfrm>
          <a:prstGeom prst="roundRect">
            <a:avLst/>
          </a:prstGeom>
          <a:solidFill>
            <a:srgbClr val="E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5681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E438B"/>
                </a:solidFill>
                <a:latin typeface="Aptos"/>
              </a:defRPr>
            </a:pPr>
            <a:r>
              <a:t>RECORTE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9424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92D"/>
                </a:solidFill>
                <a:latin typeface="Aptos"/>
              </a:defRPr>
            </a:pPr>
            <a:r>
              <a:t>2012–2021 para o corpus principal.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4983480" cy="960120"/>
          </a:xfrm>
          <a:prstGeom prst="roundRect">
            <a:avLst/>
          </a:prstGeom>
          <a:solidFill>
            <a:srgbClr val="E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5681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E438B"/>
                </a:solidFill>
                <a:latin typeface="Aptos"/>
              </a:defRPr>
            </a:pPr>
            <a:r>
              <a:t>PLATAFORMAS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49424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92D"/>
                </a:solidFill>
                <a:latin typeface="Aptos"/>
              </a:defRPr>
            </a:pPr>
            <a:r>
              <a:t>Levantamento realizado em setembro de 2023.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54680"/>
            <a:ext cx="4983480" cy="960120"/>
          </a:xfrm>
          <a:prstGeom prst="roundRect">
            <a:avLst/>
          </a:prstGeom>
          <a:solidFill>
            <a:srgbClr val="E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28269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E438B"/>
                </a:solidFill>
                <a:latin typeface="Aptos"/>
              </a:defRPr>
            </a:pPr>
            <a:r>
              <a:t>DADOS INTERNACIONAIS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75304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92D"/>
                </a:solidFill>
                <a:latin typeface="Aptos"/>
              </a:defRPr>
            </a:pPr>
            <a:r>
              <a:t>Existem lacunas em alguns anos e indicadores.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154680"/>
            <a:ext cx="4983480" cy="960120"/>
          </a:xfrm>
          <a:prstGeom prst="roundRect">
            <a:avLst/>
          </a:prstGeom>
          <a:solidFill>
            <a:srgbClr val="E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28269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E438B"/>
                </a:solidFill>
                <a:latin typeface="Aptos"/>
              </a:defRPr>
            </a:pPr>
            <a:r>
              <a:t>ENTREVISTAS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575304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92D"/>
                </a:solidFill>
                <a:latin typeface="Aptos"/>
              </a:defRPr>
            </a:pPr>
            <a:r>
              <a:t>Evidência qualitativa, não amostra estatística.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80560"/>
            <a:ext cx="4983480" cy="960120"/>
          </a:xfrm>
          <a:prstGeom prst="roundRect">
            <a:avLst/>
          </a:prstGeom>
          <a:solidFill>
            <a:srgbClr val="E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60857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E438B"/>
                </a:solidFill>
                <a:latin typeface="Aptos"/>
              </a:defRPr>
            </a:pPr>
            <a:r>
              <a:t>CAUSALIDADE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901184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92D"/>
                </a:solidFill>
                <a:latin typeface="Aptos"/>
              </a:defRPr>
            </a:pPr>
            <a:r>
              <a:t>O case descreve padrões; não testa causa e efeito.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480560"/>
            <a:ext cx="4983480" cy="960120"/>
          </a:xfrm>
          <a:prstGeom prst="roundRect">
            <a:avLst/>
          </a:prstGeom>
          <a:solidFill>
            <a:srgbClr val="EC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08576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E438B"/>
                </a:solidFill>
                <a:latin typeface="Aptos"/>
              </a:defRPr>
            </a:pPr>
            <a:r>
              <a:t>FONTES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901184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92D"/>
                </a:solidFill>
                <a:latin typeface="Aptos"/>
              </a:defRPr>
            </a:pPr>
            <a:r>
              <a:t>Indicadores devem ser lidos junto de fonte, período e definição.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6474"/>
                </a:solidFill>
                <a:latin typeface="Aptos"/>
              </a:defRPr>
            </a:pPr>
            <a:r>
              <a:t>A transparência metodológica é parte do produto analítico.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438B"/>
                </a:solidFill>
                <a:latin typeface="Aptos"/>
              </a:defRPr>
            </a:pPr>
            <a:r>
              <a:t>12 • 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4192D"/>
                </a:solidFill>
                <a:latin typeface="Aptos"/>
              </a:defRPr>
            </a:pPr>
            <a:r>
              <a:t>Como eu estruturaria a evolução para Power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646474"/>
                </a:solidFill>
                <a:latin typeface="Aptos"/>
              </a:defRPr>
            </a:pPr>
            <a:r>
              <a:t>O Excel atual é o protótipo analítico; a arquitetura abaixo organiza a próxima camada técnica.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3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4192D"/>
                </a:solidFill>
                <a:latin typeface="Aptos"/>
              </a:defRPr>
            </a:pPr>
            <a:r>
              <a:t>DIM_TEMPO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46474"/>
                </a:solidFill>
                <a:latin typeface="Aptos"/>
              </a:defRPr>
            </a:pPr>
            <a:r>
              <a:t>ano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82880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3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2057400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4192D"/>
                </a:solidFill>
                <a:latin typeface="Aptos"/>
              </a:defRPr>
            </a:pPr>
            <a:r>
              <a:t>DIM_FILME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450592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46474"/>
                </a:solidFill>
                <a:latin typeface="Aptos"/>
              </a:defRPr>
            </a:pPr>
            <a:r>
              <a:t>título • tipo • ano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82880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3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057400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4192D"/>
                </a:solidFill>
                <a:latin typeface="Aptos"/>
              </a:defRPr>
            </a:pPr>
            <a:r>
              <a:t>DIM_PAÍS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450592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46474"/>
                </a:solidFill>
                <a:latin typeface="Aptos"/>
              </a:defRPr>
            </a:pPr>
            <a:r>
              <a:t>país • participação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5760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3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86200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4192D"/>
                </a:solidFill>
                <a:latin typeface="Aptos"/>
              </a:defRPr>
            </a:pPr>
            <a:r>
              <a:t>DIM_GÊNERO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79392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46474"/>
                </a:solidFill>
                <a:latin typeface="Aptos"/>
              </a:defRPr>
            </a:pPr>
            <a:r>
              <a:t>gênero oficial • pesquisa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365760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3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3886200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4192D"/>
                </a:solidFill>
                <a:latin typeface="Aptos"/>
              </a:defRPr>
            </a:pPr>
            <a:r>
              <a:t>FATO_MERCADO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279392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46474"/>
                </a:solidFill>
                <a:latin typeface="Aptos"/>
              </a:defRPr>
            </a:pPr>
            <a:r>
              <a:t>público • renda • salas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3657600"/>
            <a:ext cx="2971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3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3886200"/>
            <a:ext cx="2697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4192D"/>
                </a:solidFill>
                <a:latin typeface="Aptos"/>
              </a:defRPr>
            </a:pPr>
            <a:r>
              <a:t>FATO_DISTRIBUIÇÃO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279392"/>
            <a:ext cx="2697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46474"/>
                </a:solidFill>
                <a:latin typeface="Aptos"/>
              </a:defRPr>
            </a:pPr>
            <a:r>
              <a:t>plataforma • modalidade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48640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5B3887"/>
                </a:solidFill>
                <a:latin typeface="Aptos"/>
              </a:defRPr>
            </a:pPr>
            <a:r>
              <a:t>Próxima evolução: relacionamentos + Power Query + medidas DAX + filtros + drill-down + tooltips.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10972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6474"/>
                </a:solidFill>
                <a:latin typeface="Aptos"/>
              </a:defRPr>
            </a:pPr>
            <a:r>
              <a:t>Arquitetura conceitual de evolução do case; não representa uma implementação já realizada em Power BI.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BE438B"/>
                </a:solidFill>
                <a:latin typeface="Aptos"/>
              </a:defRPr>
            </a:pPr>
            <a:r>
              <a:t>13 • 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O que este projeto demonstra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402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E438B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212848"/>
            <a:ext cx="8961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Transformar pesquisa em base analítica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0720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E438B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79776"/>
            <a:ext cx="8961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Trabalhar com múltiplas fontes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7413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E438B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346704"/>
            <a:ext cx="8961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Construir indicadores e visualizações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4106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E438B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913631"/>
            <a:ext cx="8961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Explicar metodologia e limitações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50799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E438B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480560"/>
            <a:ext cx="89611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Apresentar dados com narrativa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532120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E1E1EB"/>
                </a:solidFill>
                <a:latin typeface="Aptos"/>
              </a:defRPr>
            </a:pPr>
            <a:r>
              <a:t>TCC → dados → dashboard → documentação → case de portfólio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263640"/>
            <a:ext cx="10607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BEBED2"/>
                </a:solidFill>
                <a:latin typeface="Aptos"/>
              </a:defRPr>
            </a:pPr>
            <a:r>
              <a:t>Ana Luiza Mendes • Cinema &amp; Audiovisual • UEG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